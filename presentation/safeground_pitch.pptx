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6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6035040" cy="5029200"/>
          </a:xfrm>
          <a:prstGeom prst="ellipse">
            <a:avLst/>
          </a:prstGeom>
          <a:solidFill>
            <a:srgbClr val="13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5760720"/>
            <a:ext cx="5303520" cy="3108960"/>
          </a:xfrm>
          <a:prstGeom prst="ellipse">
            <a:avLst/>
          </a:prstGeom>
          <a:solidFill>
            <a:srgbClr val="12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91A69E"/>
                </a:solidFill>
                <a:latin typeface="Aptos"/>
              </a:rPr>
              <a:t>SAFEGROUND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65836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>
                <a:solidFill>
                  <a:srgbClr val="E4F4ED"/>
                </a:solidFill>
                <a:latin typeface="Aptos"/>
              </a:rPr>
              <a:t>Rimettere le cose a posto.
Prima, il terreno.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83280"/>
            <a:ext cx="53035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2400">
                <a:solidFill>
                  <a:srgbClr val="91A69E"/>
                </a:solidFill>
                <a:latin typeface="Aptos"/>
              </a:rPr>
              <a:t>Robot orchestration per mine-action triage simulato</a:t>
            </a:r>
          </a:p>
          <a:p>
            <a:pPr>
              <a:spcAft>
                <a:spcPts val="1300"/>
              </a:spcAft>
            </a:pPr>
            <a:r>
              <a:rPr sz="2400">
                <a:solidFill>
                  <a:srgbClr val="91A69E"/>
                </a:solidFill>
                <a:latin typeface="Aptos"/>
              </a:rPr>
              <a:t>Demo con lattine colorate, non oggetti reali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777240"/>
            <a:ext cx="7360920" cy="6720840"/>
          </a:xfrm>
          <a:prstGeom prst="roundRect">
            <a:avLst/>
          </a:prstGeom>
          <a:solidFill>
            <a:srgbClr val="0C1822"/>
          </a:solidFill>
          <a:ln w="15240">
            <a:solidFill>
              <a:srgbClr val="91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-cans-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850392"/>
            <a:ext cx="7214616" cy="6574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624560" y="7635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1A69E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6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6035040" cy="5029200"/>
          </a:xfrm>
          <a:prstGeom prst="ellipse">
            <a:avLst/>
          </a:prstGeom>
          <a:solidFill>
            <a:srgbClr val="13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5760720"/>
            <a:ext cx="5303520" cy="3108960"/>
          </a:xfrm>
          <a:prstGeom prst="ellipse">
            <a:avLst/>
          </a:prstGeom>
          <a:solidFill>
            <a:srgbClr val="12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91A69E"/>
                </a:solidFill>
                <a:latin typeface="Aptos"/>
              </a:rPr>
              <a:t>IL CONTESTO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>
                <a:solidFill>
                  <a:srgbClr val="E4F4ED"/>
                </a:solidFill>
                <a:latin typeface="Aptos"/>
              </a:rPr>
              <a:t>Serve una prima occhiata
senza mandare persone avanti.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5303520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Niente politica</a:t>
            </a:r>
          </a:p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Safety, triage e supervisione</a:t>
            </a:r>
          </a:p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Decisioni spiegabili, non magie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822960"/>
            <a:ext cx="7498079" cy="6629400"/>
          </a:xfrm>
          <a:prstGeom prst="roundRect">
            <a:avLst/>
          </a:prstGeom>
          <a:solidFill>
            <a:srgbClr val="0C1822"/>
          </a:solidFill>
          <a:ln w="15240">
            <a:solidFill>
              <a:srgbClr val="91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-field-w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896112"/>
            <a:ext cx="7351775" cy="6483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624560" y="7635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1A69E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6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6035040" cy="5029200"/>
          </a:xfrm>
          <a:prstGeom prst="ellipse">
            <a:avLst/>
          </a:prstGeom>
          <a:solidFill>
            <a:srgbClr val="13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5760720"/>
            <a:ext cx="5303520" cy="3108960"/>
          </a:xfrm>
          <a:prstGeom prst="ellipse">
            <a:avLst/>
          </a:prstGeom>
          <a:solidFill>
            <a:srgbClr val="12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91A69E"/>
                </a:solidFill>
                <a:latin typeface="Aptos"/>
              </a:rPr>
              <a:t>LA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E4F4ED"/>
                </a:solidFill>
                <a:latin typeface="Aptos"/>
              </a:rPr>
              <a:t>Mine simulate: colori, ruoli, regole chiare.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13258800" cy="4480560"/>
          </a:xfrm>
          <a:prstGeom prst="roundRect">
            <a:avLst/>
          </a:prstGeom>
          <a:solidFill>
            <a:srgbClr val="0C1822"/>
          </a:solidFill>
          <a:ln w="15240">
            <a:solidFill>
              <a:srgbClr val="91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-cans-close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084832"/>
            <a:ext cx="13112496" cy="433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6720840"/>
            <a:ext cx="123444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2300">
                <a:solidFill>
                  <a:srgbClr val="91A69E"/>
                </a:solidFill>
                <a:latin typeface="Aptos"/>
              </a:rPr>
              <a:t>Arancione = MINE</a:t>
            </a:r>
          </a:p>
          <a:p>
            <a:pPr>
              <a:spcAft>
                <a:spcPts val="1300"/>
              </a:spcAft>
            </a:pPr>
            <a:r>
              <a:rPr sz="2300">
                <a:solidFill>
                  <a:srgbClr val="91A69E"/>
                </a:solidFill>
                <a:latin typeface="Aptos"/>
              </a:rPr>
              <a:t>Nera = DUBBIO</a:t>
            </a:r>
          </a:p>
          <a:p>
            <a:pPr>
              <a:spcAft>
                <a:spcPts val="1300"/>
              </a:spcAft>
            </a:pPr>
            <a:r>
              <a:rPr sz="2300">
                <a:solidFill>
                  <a:srgbClr val="91A69E"/>
                </a:solidFill>
                <a:latin typeface="Aptos"/>
              </a:rPr>
              <a:t>Verde = NOT_MINE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24560" y="7635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1A69E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6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6035040" cy="5029200"/>
          </a:xfrm>
          <a:prstGeom prst="ellipse">
            <a:avLst/>
          </a:prstGeom>
          <a:solidFill>
            <a:srgbClr val="13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5760720"/>
            <a:ext cx="5303520" cy="3108960"/>
          </a:xfrm>
          <a:prstGeom prst="ellipse">
            <a:avLst/>
          </a:prstGeom>
          <a:solidFill>
            <a:srgbClr val="12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91A69E"/>
                </a:solidFill>
                <a:latin typeface="Aptos"/>
              </a:rPr>
              <a:t>IL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2801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E4F4ED"/>
                </a:solidFill>
                <a:latin typeface="Aptos"/>
              </a:rPr>
              <a:t>Sense -&gt; Classify -&gt; Decide -&gt; Delegate -&gt; Verify -&gt;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377440"/>
            <a:ext cx="1170432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2100">
                <a:solidFill>
                  <a:srgbClr val="91A69E"/>
                </a:solidFill>
                <a:latin typeface="Aptos"/>
              </a:rPr>
              <a:t>Il valore e la catena completa</a:t>
            </a:r>
          </a:p>
          <a:p>
            <a:pPr>
              <a:spcAft>
                <a:spcPts val="1300"/>
              </a:spcAft>
            </a:pPr>
            <a:r>
              <a:rPr sz="2100">
                <a:solidFill>
                  <a:srgbClr val="91A69E"/>
                </a:solidFill>
                <a:latin typeface="Aptos"/>
              </a:rPr>
              <a:t>Il dubbio attiva una seconda osservazione</a:t>
            </a:r>
          </a:p>
          <a:p>
            <a:pPr>
              <a:spcAft>
                <a:spcPts val="1300"/>
              </a:spcAft>
            </a:pPr>
            <a:r>
              <a:rPr sz="2100">
                <a:solidFill>
                  <a:srgbClr val="91A69E"/>
                </a:solidFill>
                <a:latin typeface="Aptos"/>
              </a:rPr>
              <a:t>Tutto resta auditabile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794760"/>
            <a:ext cx="1691640" cy="100584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411480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4F4ED"/>
                </a:solidFill>
                <a:latin typeface="Aptos"/>
              </a:rPr>
              <a:t>Sense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51760" y="4297680"/>
            <a:ext cx="548640" cy="0"/>
          </a:xfrm>
          <a:prstGeom prst="line">
            <a:avLst/>
          </a:prstGeom>
          <a:ln w="25400">
            <a:solidFill>
              <a:srgbClr val="7AFF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46120" y="3794760"/>
            <a:ext cx="1691640" cy="100584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411480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4F4ED"/>
                </a:solidFill>
                <a:latin typeface="Aptos"/>
              </a:rPr>
              <a:t>Classify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83479" y="4297680"/>
            <a:ext cx="548641" cy="0"/>
          </a:xfrm>
          <a:prstGeom prst="line">
            <a:avLst/>
          </a:prstGeom>
          <a:ln w="25400">
            <a:solidFill>
              <a:srgbClr val="7AFF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577840" y="3794760"/>
            <a:ext cx="1691640" cy="100584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7568" y="411480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4F4ED"/>
                </a:solidFill>
                <a:latin typeface="Aptos"/>
              </a:rPr>
              <a:t>Decide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0" y="4297680"/>
            <a:ext cx="548640" cy="0"/>
          </a:xfrm>
          <a:prstGeom prst="line">
            <a:avLst/>
          </a:prstGeom>
          <a:ln w="25400">
            <a:solidFill>
              <a:srgbClr val="7AFF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909560" y="3794760"/>
            <a:ext cx="1691640" cy="100584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9288" y="411480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4F4ED"/>
                </a:solidFill>
                <a:latin typeface="Aptos"/>
              </a:rPr>
              <a:t>Delegate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46920" y="4297680"/>
            <a:ext cx="548639" cy="0"/>
          </a:xfrm>
          <a:prstGeom prst="line">
            <a:avLst/>
          </a:prstGeom>
          <a:ln w="25400">
            <a:solidFill>
              <a:srgbClr val="7AFF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241280" y="3794760"/>
            <a:ext cx="1691640" cy="100584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51007" y="411480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4F4ED"/>
                </a:solidFill>
                <a:latin typeface="Aptos"/>
              </a:rPr>
              <a:t>Verify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978640" y="4297680"/>
            <a:ext cx="548640" cy="0"/>
          </a:xfrm>
          <a:prstGeom prst="line">
            <a:avLst/>
          </a:prstGeom>
          <a:ln w="25400">
            <a:solidFill>
              <a:srgbClr val="7AFF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2573000" y="3794760"/>
            <a:ext cx="1691640" cy="100584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82728" y="411480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4F4ED"/>
                </a:solidFill>
                <a:latin typeface="Aptos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5778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FACC15"/>
                </a:solidFill>
                <a:latin typeface="Aptos"/>
              </a:rPr>
              <a:t>Se e dubbio, non forza: chiede un secondo sguardo.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24560" y="7635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1A69E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6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6035040" cy="5029200"/>
          </a:xfrm>
          <a:prstGeom prst="ellipse">
            <a:avLst/>
          </a:prstGeom>
          <a:solidFill>
            <a:srgbClr val="13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5760720"/>
            <a:ext cx="5303520" cy="3108960"/>
          </a:xfrm>
          <a:prstGeom prst="ellipse">
            <a:avLst/>
          </a:prstGeom>
          <a:solidFill>
            <a:srgbClr val="12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91A69E"/>
                </a:solidFill>
                <a:latin typeface="Aptos"/>
              </a:rPr>
              <a:t>INTERFACCIA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585216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E4F4ED"/>
                </a:solidFill>
                <a:latin typeface="Aptos"/>
              </a:rPr>
              <a:t>Una console per vedere, decidere, fermare.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51206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2100">
                <a:solidFill>
                  <a:srgbClr val="91A69E"/>
                </a:solidFill>
                <a:latin typeface="Aptos"/>
              </a:rPr>
              <a:t>Dashboard locale SafeGround</a:t>
            </a:r>
          </a:p>
          <a:p>
            <a:pPr>
              <a:spcAft>
                <a:spcPts val="1300"/>
              </a:spcAft>
            </a:pPr>
            <a:r>
              <a:rPr sz="2100">
                <a:solidFill>
                  <a:srgbClr val="91A69E"/>
                </a:solidFill>
                <a:latin typeface="Aptos"/>
              </a:rPr>
              <a:t>Mappa rischio + stato robot</a:t>
            </a:r>
          </a:p>
          <a:p>
            <a:pPr>
              <a:spcAft>
                <a:spcPts val="1300"/>
              </a:spcAft>
            </a:pPr>
            <a:r>
              <a:rPr sz="2100">
                <a:solidFill>
                  <a:srgbClr val="91A69E"/>
                </a:solidFill>
                <a:latin typeface="Aptos"/>
              </a:rPr>
              <a:t>Stop All sempre visibile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731520"/>
            <a:ext cx="7863840" cy="6720840"/>
          </a:xfrm>
          <a:prstGeom prst="roundRect">
            <a:avLst/>
          </a:prstGeom>
          <a:solidFill>
            <a:srgbClr val="0C1822"/>
          </a:solidFill>
          <a:ln w="15240">
            <a:solidFill>
              <a:srgbClr val="91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cal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804672"/>
            <a:ext cx="7717536" cy="6574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624560" y="7635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1A69E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6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6035040" cy="5029200"/>
          </a:xfrm>
          <a:prstGeom prst="ellipse">
            <a:avLst/>
          </a:prstGeom>
          <a:solidFill>
            <a:srgbClr val="13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5760720"/>
            <a:ext cx="5303520" cy="3108960"/>
          </a:xfrm>
          <a:prstGeom prst="ellipse">
            <a:avLst/>
          </a:prstGeom>
          <a:solidFill>
            <a:srgbClr val="12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91A69E"/>
                </a:solidFill>
                <a:latin typeface="Aptos"/>
              </a:rPr>
              <a:t>MULTI-ROBOT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E4F4ED"/>
                </a:solidFill>
                <a:latin typeface="Aptos"/>
              </a:rPr>
              <a:t>Robot diversi, ruoli diversi.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23160"/>
            <a:ext cx="566928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Go2: primary scout</a:t>
            </a:r>
          </a:p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UGV Beast: second look</a:t>
            </a:r>
          </a:p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SO-101: marker sicuro</a:t>
            </a:r>
          </a:p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Camera: overview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777240"/>
            <a:ext cx="6812280" cy="4709160"/>
          </a:xfrm>
          <a:prstGeom prst="roundRect">
            <a:avLst/>
          </a:prstGeom>
          <a:solidFill>
            <a:srgbClr val="0C1822"/>
          </a:solidFill>
          <a:ln w="15240">
            <a:solidFill>
              <a:srgbClr val="91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-field-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472" y="850392"/>
            <a:ext cx="6665976" cy="45628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" y="5715000"/>
            <a:ext cx="3017520" cy="132588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943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E4F4ED"/>
                </a:solidFill>
                <a:latin typeface="Aptos"/>
              </a:rPr>
              <a:t>Go2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5508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7AFFBE"/>
                </a:solidFill>
                <a:latin typeface="Aptos"/>
              </a:rPr>
              <a:t>Primary Scout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5715000"/>
            <a:ext cx="3017520" cy="132588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5943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E4F4ED"/>
                </a:solidFill>
                <a:latin typeface="Aptos"/>
              </a:rPr>
              <a:t>UGV Beast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635508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CC15"/>
                </a:solidFill>
                <a:latin typeface="Aptos"/>
              </a:rPr>
              <a:t>Second Look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5715000"/>
            <a:ext cx="3017520" cy="132588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47D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5943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E4F4ED"/>
                </a:solidFill>
                <a:latin typeface="Aptos"/>
              </a:rPr>
              <a:t>SO-101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635508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47DC89"/>
                </a:solidFill>
                <a:latin typeface="Aptos"/>
              </a:rPr>
              <a:t>Safe Marker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27080" y="5715000"/>
            <a:ext cx="3017520" cy="132588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305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0" y="5943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E4F4ED"/>
                </a:solidFill>
                <a:latin typeface="Aptos"/>
              </a:rPr>
              <a:t>Camera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5508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05CD2"/>
                </a:solidFill>
                <a:latin typeface="Aptos"/>
              </a:rPr>
              <a:t>Overview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24560" y="7635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1A69E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6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6035040" cy="5029200"/>
          </a:xfrm>
          <a:prstGeom prst="ellipse">
            <a:avLst/>
          </a:prstGeom>
          <a:solidFill>
            <a:srgbClr val="13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5760720"/>
            <a:ext cx="5303520" cy="3108960"/>
          </a:xfrm>
          <a:prstGeom prst="ellipse">
            <a:avLst/>
          </a:prstGeom>
          <a:solidFill>
            <a:srgbClr val="12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91A69E"/>
                </a:solidFill>
                <a:latin typeface="Aptos"/>
              </a:rPr>
              <a:t>SAFETY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E4F4ED"/>
                </a:solidFill>
                <a:latin typeface="Aptos"/>
              </a:rPr>
              <a:t>Bounded autonomy.
Human in the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68580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Dry-run e simulazione prima del live</a:t>
            </a:r>
          </a:p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Comandi brevi e reversibili</a:t>
            </a:r>
          </a:p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Mai contatto con MINE o DUBBIO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2011680"/>
            <a:ext cx="6126480" cy="3291840"/>
          </a:xfrm>
          <a:prstGeom prst="roundRect">
            <a:avLst/>
          </a:prstGeom>
          <a:solidFill>
            <a:srgbClr val="0C1822"/>
          </a:solidFill>
          <a:ln w="15240">
            <a:solidFill>
              <a:srgbClr val="91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al-field-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2" y="2084832"/>
            <a:ext cx="5980176" cy="3145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14400" y="2971800"/>
            <a:ext cx="5852160" cy="114300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2004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E4F4ED"/>
                </a:solidFill>
                <a:latin typeface="Aptos"/>
              </a:rPr>
              <a:t>DRY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2918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91A69E"/>
                </a:solidFill>
                <a:latin typeface="Aptos"/>
              </a:rPr>
              <a:t>prima del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2971800"/>
            <a:ext cx="5852160" cy="114300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32004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E4F4ED"/>
                </a:solidFill>
                <a:latin typeface="Aptos"/>
              </a:rPr>
              <a:t>BOUNDED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2918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91A69E"/>
                </a:solidFill>
                <a:latin typeface="Aptos"/>
              </a:rPr>
              <a:t>micro-movimenti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572000"/>
            <a:ext cx="5852160" cy="114300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4800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E4F4ED"/>
                </a:solidFill>
                <a:latin typeface="Aptos"/>
              </a:rPr>
              <a:t>STOP 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48920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91A69E"/>
                </a:solidFill>
                <a:latin typeface="Aptos"/>
              </a:rPr>
              <a:t>sempre visibile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4572000"/>
            <a:ext cx="5852160" cy="1143000"/>
          </a:xfrm>
          <a:prstGeom prst="roundRect">
            <a:avLst/>
          </a:prstGeom>
          <a:solidFill>
            <a:srgbClr val="09131C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4800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E4F4ED"/>
                </a:solidFill>
                <a:latin typeface="Aptos"/>
              </a:rPr>
              <a:t>NO CONTACT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8920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91A69E"/>
                </a:solidFill>
                <a:latin typeface="Aptos"/>
              </a:rPr>
              <a:t>mine e dubbio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24560" y="7635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1A69E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6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6035040" cy="5029200"/>
          </a:xfrm>
          <a:prstGeom prst="ellipse">
            <a:avLst/>
          </a:prstGeom>
          <a:solidFill>
            <a:srgbClr val="13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5760720"/>
            <a:ext cx="5303520" cy="3108960"/>
          </a:xfrm>
          <a:prstGeom prst="ellipse">
            <a:avLst/>
          </a:prstGeom>
          <a:solidFill>
            <a:srgbClr val="12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91A69E"/>
                </a:solidFill>
                <a:latin typeface="Aptos"/>
              </a:rPr>
              <a:t>CYBERWAVE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585216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E4F4ED"/>
                </a:solidFill>
                <a:latin typeface="Aptos"/>
              </a:rPr>
              <a:t>Digital twins e robot reali nello stesso flusso.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51206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2100">
                <a:solidFill>
                  <a:srgbClr val="91A69E"/>
                </a:solidFill>
                <a:latin typeface="Aptos"/>
              </a:rPr>
              <a:t>Simulation/live switch</a:t>
            </a:r>
          </a:p>
          <a:p>
            <a:pPr>
              <a:spcAft>
                <a:spcPts val="1300"/>
              </a:spcAft>
            </a:pPr>
            <a:r>
              <a:rPr sz="2100">
                <a:solidFill>
                  <a:srgbClr val="91A69E"/>
                </a:solidFill>
                <a:latin typeface="Aptos"/>
              </a:rPr>
              <a:t>Twin discovery</a:t>
            </a:r>
          </a:p>
          <a:p>
            <a:pPr>
              <a:spcAft>
                <a:spcPts val="1300"/>
              </a:spcAft>
            </a:pPr>
            <a:r>
              <a:rPr sz="2100">
                <a:solidFill>
                  <a:srgbClr val="91A69E"/>
                </a:solidFill>
                <a:latin typeface="Aptos"/>
              </a:rPr>
              <a:t>Workflow e SDK come control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731520"/>
            <a:ext cx="7863840" cy="6720840"/>
          </a:xfrm>
          <a:prstGeom prst="roundRect">
            <a:avLst/>
          </a:prstGeom>
          <a:solidFill>
            <a:srgbClr val="0C1822"/>
          </a:solidFill>
          <a:ln w="15240">
            <a:solidFill>
              <a:srgbClr val="91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yberwave-dashboard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804672"/>
            <a:ext cx="7717536" cy="6574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624560" y="7635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1A69E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6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6035040" cy="5029200"/>
          </a:xfrm>
          <a:prstGeom prst="ellipse">
            <a:avLst/>
          </a:prstGeom>
          <a:solidFill>
            <a:srgbClr val="13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5760720"/>
            <a:ext cx="5303520" cy="3108960"/>
          </a:xfrm>
          <a:prstGeom prst="ellipse">
            <a:avLst/>
          </a:prstGeom>
          <a:solidFill>
            <a:srgbClr val="12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91A69E"/>
                </a:solidFill>
                <a:latin typeface="Aptos"/>
              </a:rPr>
              <a:t>LIVE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>
                <a:solidFill>
                  <a:srgbClr val="E4F4ED"/>
                </a:solidFill>
                <a:latin typeface="Aptos"/>
              </a:rPr>
              <a:t>Cosa succede davanti al pubblico.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5303520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1. Parte lo scan del campo</a:t>
            </a:r>
          </a:p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2. Una lattina genera dubbio</a:t>
            </a:r>
          </a:p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3. Secondo robot verifica</a:t>
            </a:r>
          </a:p>
          <a:p>
            <a:pPr>
              <a:spcAft>
                <a:spcPts val="1300"/>
              </a:spcAft>
            </a:pPr>
            <a:r>
              <a:rPr sz="2200">
                <a:solidFill>
                  <a:srgbClr val="91A69E"/>
                </a:solidFill>
                <a:latin typeface="Aptos"/>
              </a:rPr>
              <a:t>4. La mappa si aggiorna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822960"/>
            <a:ext cx="7498079" cy="6629400"/>
          </a:xfrm>
          <a:prstGeom prst="roundRect">
            <a:avLst/>
          </a:prstGeom>
          <a:solidFill>
            <a:srgbClr val="0C1822"/>
          </a:solidFill>
          <a:ln w="15240">
            <a:solidFill>
              <a:srgbClr val="91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cal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896112"/>
            <a:ext cx="7351775" cy="6483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624560" y="7635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1A69E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6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6035040" cy="5029200"/>
          </a:xfrm>
          <a:prstGeom prst="ellipse">
            <a:avLst/>
          </a:prstGeom>
          <a:solidFill>
            <a:srgbClr val="13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5760720"/>
            <a:ext cx="5303520" cy="3108960"/>
          </a:xfrm>
          <a:prstGeom prst="ellipse">
            <a:avLst/>
          </a:prstGeom>
          <a:solidFill>
            <a:srgbClr val="12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91A69E"/>
                </a:solidFill>
                <a:latin typeface="Aptos"/>
              </a:rPr>
              <a:t>CHIUSURA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731520"/>
            <a:ext cx="13167360" cy="6766560"/>
          </a:xfrm>
          <a:prstGeom prst="roundRect">
            <a:avLst/>
          </a:prstGeom>
          <a:solidFill>
            <a:srgbClr val="0C1822"/>
          </a:solidFill>
          <a:ln w="15240">
            <a:solidFill>
              <a:srgbClr val="91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al-field-w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804672"/>
            <a:ext cx="13021056" cy="66202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51560" y="1280160"/>
            <a:ext cx="12527280" cy="4754880"/>
          </a:xfrm>
          <a:prstGeom prst="roundRect">
            <a:avLst/>
          </a:prstGeom>
          <a:solidFill>
            <a:srgbClr val="060B0F"/>
          </a:solidFill>
          <a:ln w="15240">
            <a:solidFill>
              <a:srgbClr val="7AF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1828800"/>
            <a:ext cx="1179576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300" b="1">
                <a:solidFill>
                  <a:srgbClr val="E4F4ED"/>
                </a:solidFill>
                <a:latin typeface="Aptos"/>
              </a:rPr>
              <a:t>Non promettiamo miracoli.
Mostriamo una procedura piu sicura.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526280"/>
            <a:ext cx="896112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2400">
                <a:solidFill>
                  <a:srgbClr val="91A69E"/>
                </a:solidFill>
                <a:latin typeface="Aptos"/>
              </a:rPr>
              <a:t>Props innocui oggi</a:t>
            </a:r>
          </a:p>
          <a:p>
            <a:pPr>
              <a:spcAft>
                <a:spcPts val="1300"/>
              </a:spcAft>
            </a:pPr>
            <a:r>
              <a:rPr sz="2400">
                <a:solidFill>
                  <a:srgbClr val="91A69E"/>
                </a:solidFill>
                <a:latin typeface="Aptos"/>
              </a:rPr>
              <a:t>Risk map verificabile domani</a:t>
            </a:r>
          </a:p>
          <a:p>
            <a:pPr>
              <a:spcAft>
                <a:spcPts val="1300"/>
              </a:spcAft>
            </a:pPr>
            <a:r>
              <a:rPr sz="2400">
                <a:solidFill>
                  <a:srgbClr val="91A69E"/>
                </a:solidFill>
                <a:latin typeface="Aptos"/>
              </a:rPr>
              <a:t>Decisioni robotiche supervisionate sempre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995160"/>
            <a:ext cx="1463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7AFFBE"/>
                </a:solidFill>
                <a:latin typeface="Aptos"/>
              </a:rPr>
              <a:t>SafeGround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0" y="7635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91A69E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