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SAFEGROUND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500" b="1">
                <a:solidFill>
                  <a:srgbClr val="E4F4ED"/>
                </a:solidFill>
                <a:latin typeface="Aptos"/>
              </a:rPr>
              <a:t>Rimettere le cose a posto.
Prima, il terreno.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83280"/>
            <a:ext cx="53035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400">
                <a:solidFill>
                  <a:srgbClr val="91A69E"/>
                </a:solidFill>
                <a:latin typeface="Aptos"/>
              </a:rPr>
              <a:t>Robot orchestration per mine-action triage simulato</a:t>
            </a:r>
          </a:p>
          <a:p>
            <a:pPr>
              <a:spcAft>
                <a:spcPts val="1300"/>
              </a:spcAft>
            </a:pPr>
            <a:r>
              <a:rPr sz="2400">
                <a:solidFill>
                  <a:srgbClr val="91A69E"/>
                </a:solidFill>
                <a:latin typeface="Aptos"/>
              </a:rPr>
              <a:t>Demo con lattine colorate, non oggetti reali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777240"/>
            <a:ext cx="7360920" cy="672084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-cans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850392"/>
            <a:ext cx="7214616" cy="6574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IL CONTESTO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E4F4ED"/>
                </a:solidFill>
                <a:latin typeface="Aptos"/>
              </a:rPr>
              <a:t>Serve una prima occhiata
senza mandare persone avanti.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530352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Niente politica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Safety, triage e supervisione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Decisioni spiegabili, non magie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822960"/>
            <a:ext cx="7498079" cy="662940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-field-w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96112"/>
            <a:ext cx="7351775" cy="64830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LA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4F4ED"/>
                </a:solidFill>
                <a:latin typeface="Aptos"/>
              </a:rPr>
              <a:t>Mine simulate: colori, ruoli, regole chiare.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3258800" cy="448056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-cans-close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84832"/>
            <a:ext cx="13112496" cy="4334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6720840"/>
            <a:ext cx="123444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300">
                <a:solidFill>
                  <a:srgbClr val="91A69E"/>
                </a:solidFill>
                <a:latin typeface="Aptos"/>
              </a:rPr>
              <a:t>Arancione = MINE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91A69E"/>
                </a:solidFill>
                <a:latin typeface="Aptos"/>
              </a:rPr>
              <a:t>Nera = DUBBIO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91A69E"/>
                </a:solidFill>
                <a:latin typeface="Aptos"/>
              </a:rPr>
              <a:t>Verde = NOT_MINE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IL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2801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4F4ED"/>
                </a:solidFill>
                <a:latin typeface="Aptos"/>
              </a:rPr>
              <a:t>Sense -&gt; Classify -&gt; Decide -&gt; Delegate -&gt; Verify -&gt;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1170432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Il valore e la catena completa</a:t>
            </a:r>
          </a:p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Il dubbio attiva una seconda osservazione</a:t>
            </a:r>
          </a:p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Tutto resta auditabile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1691640" cy="100584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4F4ED"/>
                </a:solidFill>
                <a:latin typeface="Aptos"/>
              </a:rPr>
              <a:t>Sense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4297680"/>
            <a:ext cx="548640" cy="0"/>
          </a:xfrm>
          <a:prstGeom prst="line">
            <a:avLst/>
          </a:prstGeom>
          <a:ln w="25400">
            <a:solidFill>
              <a:srgbClr val="7AF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3794760"/>
            <a:ext cx="1691640" cy="100584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4F4ED"/>
                </a:solidFill>
                <a:latin typeface="Aptos"/>
              </a:rPr>
              <a:t>Classify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79" y="4297680"/>
            <a:ext cx="548641" cy="0"/>
          </a:xfrm>
          <a:prstGeom prst="line">
            <a:avLst/>
          </a:prstGeom>
          <a:ln w="25400">
            <a:solidFill>
              <a:srgbClr val="7AF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77840" y="3794760"/>
            <a:ext cx="1691640" cy="100584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4F4ED"/>
                </a:solidFill>
                <a:latin typeface="Aptos"/>
              </a:rPr>
              <a:t>Decide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4297680"/>
            <a:ext cx="548640" cy="0"/>
          </a:xfrm>
          <a:prstGeom prst="line">
            <a:avLst/>
          </a:prstGeom>
          <a:ln w="25400">
            <a:solidFill>
              <a:srgbClr val="7AF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09560" y="3794760"/>
            <a:ext cx="1691640" cy="100584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4F4ED"/>
                </a:solidFill>
                <a:latin typeface="Aptos"/>
              </a:rPr>
              <a:t>Delegate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46920" y="4297680"/>
            <a:ext cx="548639" cy="0"/>
          </a:xfrm>
          <a:prstGeom prst="line">
            <a:avLst/>
          </a:prstGeom>
          <a:ln w="25400">
            <a:solidFill>
              <a:srgbClr val="7AF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41280" y="3794760"/>
            <a:ext cx="1691640" cy="100584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51007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4F4ED"/>
                </a:solidFill>
                <a:latin typeface="Aptos"/>
              </a:rPr>
              <a:t>Verify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978640" y="4297680"/>
            <a:ext cx="548640" cy="0"/>
          </a:xfrm>
          <a:prstGeom prst="line">
            <a:avLst/>
          </a:prstGeom>
          <a:ln w="25400">
            <a:solidFill>
              <a:srgbClr val="7AF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2573000" y="3794760"/>
            <a:ext cx="1691640" cy="100584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82728" y="41148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4F4ED"/>
                </a:solidFill>
                <a:latin typeface="Aptos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5778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ACC15"/>
                </a:solidFill>
                <a:latin typeface="Aptos"/>
              </a:rPr>
              <a:t>Se e dubbio, non forza: chiede un secondo sguardo.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INTERFACCIA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852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4F4ED"/>
                </a:solidFill>
                <a:latin typeface="Aptos"/>
              </a:rPr>
              <a:t>Una console per vedere, decidere, fermare.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51206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Dashboard locale SafeGround</a:t>
            </a:r>
          </a:p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Route planner + risk map + fleet</a:t>
            </a:r>
          </a:p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Stop All sempre visibile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731520"/>
            <a:ext cx="7863840" cy="672084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user-integr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804672"/>
            <a:ext cx="7717536" cy="6574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MULTI-ROBOT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4F4ED"/>
                </a:solidFill>
                <a:latin typeface="Aptos"/>
              </a:rPr>
              <a:t>Robot diversi, ruoli diversi.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566928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Go2: primary scout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UGV Beast: second look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SO-101: marker sicuro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Camera: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777240"/>
            <a:ext cx="6812280" cy="470916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-field-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850392"/>
            <a:ext cx="6665976" cy="45628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715000"/>
            <a:ext cx="3017520" cy="132588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9436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E4F4ED"/>
                </a:solidFill>
                <a:latin typeface="Aptos"/>
              </a:rPr>
              <a:t>Go2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550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FFBE"/>
                </a:solidFill>
                <a:latin typeface="Aptos"/>
              </a:rPr>
              <a:t>Primary Scout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5715000"/>
            <a:ext cx="3017520" cy="132588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59436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E4F4ED"/>
                </a:solidFill>
                <a:latin typeface="Aptos"/>
              </a:rPr>
              <a:t>UGV Beast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63550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CC15"/>
                </a:solidFill>
                <a:latin typeface="Aptos"/>
              </a:rPr>
              <a:t>Second Look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5715000"/>
            <a:ext cx="3017520" cy="132588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47D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59436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E4F4ED"/>
                </a:solidFill>
                <a:latin typeface="Aptos"/>
              </a:rPr>
              <a:t>SO-101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63550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7DC89"/>
                </a:solidFill>
                <a:latin typeface="Aptos"/>
              </a:rPr>
              <a:t>Safe Marker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27080" y="5715000"/>
            <a:ext cx="3017520" cy="132588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305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59436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E4F4ED"/>
                </a:solidFill>
                <a:latin typeface="Aptos"/>
              </a:rPr>
              <a:t>Camera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550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05CD2"/>
                </a:solidFill>
                <a:latin typeface="Aptos"/>
              </a:rPr>
              <a:t>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SAFETY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E4F4ED"/>
                </a:solidFill>
                <a:latin typeface="Aptos"/>
              </a:rPr>
              <a:t>Bounded autonomy.
Human in the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68580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Dry-run e simulazione prima del live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Comandi brevi e reversibili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Mai contatto con MINE o DUBBIO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6126480" cy="329184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-field-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2084832"/>
            <a:ext cx="5980176" cy="31455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2971800"/>
            <a:ext cx="5852160" cy="114300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200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E4F4ED"/>
                </a:solidFill>
                <a:latin typeface="Aptos"/>
              </a:rPr>
              <a:t>DRY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918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91A69E"/>
                </a:solidFill>
                <a:latin typeface="Aptos"/>
              </a:rPr>
              <a:t>prima del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971800"/>
            <a:ext cx="5852160" cy="114300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200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E4F4ED"/>
                </a:solidFill>
                <a:latin typeface="Aptos"/>
              </a:rPr>
              <a:t>BOUNDED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2918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91A69E"/>
                </a:solidFill>
                <a:latin typeface="Aptos"/>
              </a:rPr>
              <a:t>micro-movimenti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5852160" cy="114300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8006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E4F4ED"/>
                </a:solidFill>
                <a:latin typeface="Aptos"/>
              </a:rPr>
              <a:t>STOP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8920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91A69E"/>
                </a:solidFill>
                <a:latin typeface="Aptos"/>
              </a:rPr>
              <a:t>sempre visibile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4572000"/>
            <a:ext cx="5852160" cy="1143000"/>
          </a:xfrm>
          <a:prstGeom prst="roundRect">
            <a:avLst/>
          </a:prstGeom>
          <a:solidFill>
            <a:srgbClr val="09131C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8006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E4F4ED"/>
                </a:solidFill>
                <a:latin typeface="Aptos"/>
              </a:rPr>
              <a:t>NO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8920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91A69E"/>
                </a:solidFill>
                <a:latin typeface="Aptos"/>
              </a:rPr>
              <a:t>mine e dubbio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CYBERWAVE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5852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4F4ED"/>
                </a:solidFill>
                <a:latin typeface="Aptos"/>
              </a:rPr>
              <a:t>Digital twins e robot reali nello stesso flusso.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51206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Simulation/live switch</a:t>
            </a:r>
          </a:p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Twin discovery</a:t>
            </a:r>
          </a:p>
          <a:p>
            <a:pPr>
              <a:spcAft>
                <a:spcPts val="1300"/>
              </a:spcAft>
            </a:pPr>
            <a:r>
              <a:rPr sz="2100">
                <a:solidFill>
                  <a:srgbClr val="91A69E"/>
                </a:solidFill>
                <a:latin typeface="Aptos"/>
              </a:rPr>
              <a:t>Workflow e SDK come control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731520"/>
            <a:ext cx="7863840" cy="672084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yberwave-dashboard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804672"/>
            <a:ext cx="7717536" cy="6574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LIVE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E4F4ED"/>
                </a:solidFill>
                <a:latin typeface="Aptos"/>
              </a:rPr>
              <a:t>Cosa succede davanti al pubblico.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530352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1. Parte lo scan del campo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2. Una lattina genera dubbio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3. Secondo robot verifica</a:t>
            </a:r>
          </a:p>
          <a:p>
            <a:pPr>
              <a:spcAft>
                <a:spcPts val="1300"/>
              </a:spcAft>
            </a:pPr>
            <a:r>
              <a:rPr sz="2200">
                <a:solidFill>
                  <a:srgbClr val="91A69E"/>
                </a:solidFill>
                <a:latin typeface="Aptos"/>
              </a:rPr>
              <a:t>4. La mappa si aggiorna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822960"/>
            <a:ext cx="7498079" cy="662940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cal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96112"/>
            <a:ext cx="7351775" cy="64830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6035040" cy="5029200"/>
          </a:xfrm>
          <a:prstGeom prst="ellipse">
            <a:avLst/>
          </a:prstGeom>
          <a:solidFill>
            <a:srgbClr val="13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760720"/>
            <a:ext cx="5303520" cy="3108960"/>
          </a:xfrm>
          <a:prstGeom prst="ellipse">
            <a:avLst/>
          </a:prstGeom>
          <a:solidFill>
            <a:srgbClr val="125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A69E"/>
                </a:solidFill>
                <a:latin typeface="Aptos"/>
              </a:rPr>
              <a:t>CHIUSURA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731520"/>
            <a:ext cx="13167360" cy="6766560"/>
          </a:xfrm>
          <a:prstGeom prst="roundRect">
            <a:avLst/>
          </a:prstGeom>
          <a:solidFill>
            <a:srgbClr val="0C1822"/>
          </a:solidFill>
          <a:ln w="15240">
            <a:solidFill>
              <a:srgbClr val="91A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al-field-w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804672"/>
            <a:ext cx="13021056" cy="66202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1560" y="1280160"/>
            <a:ext cx="12527280" cy="4754880"/>
          </a:xfrm>
          <a:prstGeom prst="roundRect">
            <a:avLst/>
          </a:prstGeom>
          <a:solidFill>
            <a:srgbClr val="060B0F"/>
          </a:solidFill>
          <a:ln w="15240">
            <a:solidFill>
              <a:srgbClr val="7AF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117957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300" b="1">
                <a:solidFill>
                  <a:srgbClr val="E4F4ED"/>
                </a:solidFill>
                <a:latin typeface="Aptos"/>
              </a:rPr>
              <a:t>Non promettiamo miracoli.
Mostriamo una procedura piu sicura.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526280"/>
            <a:ext cx="896112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2400">
                <a:solidFill>
                  <a:srgbClr val="91A69E"/>
                </a:solidFill>
                <a:latin typeface="Aptos"/>
              </a:rPr>
              <a:t>Props innocui oggi</a:t>
            </a:r>
          </a:p>
          <a:p>
            <a:pPr>
              <a:spcAft>
                <a:spcPts val="1300"/>
              </a:spcAft>
            </a:pPr>
            <a:r>
              <a:rPr sz="2400">
                <a:solidFill>
                  <a:srgbClr val="91A69E"/>
                </a:solidFill>
                <a:latin typeface="Aptos"/>
              </a:rPr>
              <a:t>Risk map verificabile domani</a:t>
            </a:r>
          </a:p>
          <a:p>
            <a:pPr>
              <a:spcAft>
                <a:spcPts val="1300"/>
              </a:spcAft>
            </a:pPr>
            <a:r>
              <a:rPr sz="2400">
                <a:solidFill>
                  <a:srgbClr val="91A69E"/>
                </a:solidFill>
                <a:latin typeface="Aptos"/>
              </a:rPr>
              <a:t>Decisioni robotiche supervisionate sempre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995160"/>
            <a:ext cx="1463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7AFFBE"/>
                </a:solidFill>
                <a:latin typeface="Aptos"/>
              </a:rPr>
              <a:t>SafeGround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0" y="7635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1A69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